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4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3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87cb3595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Good afternoon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Our names are Ez and Isabella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And today we are gonna present the paper titled cultural </a:t>
            </a:r>
            <a:r>
              <a:rPr lang="es"/>
              <a:t>evolution</a:t>
            </a:r>
            <a:r>
              <a:rPr lang="es"/>
              <a:t> of emotional expression in 50 years of songs lyrics, which was written by brand, acerbi and mesourdi in 2019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1" name="Google Shape;81;g3b487cb3595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f0bd118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f0bd118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f0bd1180_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4f0bd1180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f0bd118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4f0bd118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f0bd1180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4f0bd118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f0bd118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f0bd118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f0bd118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4f0bd118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f0bd1180_1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4f0bd1180_1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f0bd118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4f0bd118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make it run in real time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f0bd1180_15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f0bd1180_1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f0bd1180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4f0bd1180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Notice the comb filtering when I change my distance to the floor and the walls, as well as the occlusion and wall reflections you can hear in the second room.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el - Text und Bild">
  <p:cSld name="1_Titel - Text und Bild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-4859" y="945429"/>
            <a:ext cx="6663900" cy="2455200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56" name="Google Shape;56;p14"/>
          <p:cNvSpPr txBox="1"/>
          <p:nvPr/>
        </p:nvSpPr>
        <p:spPr>
          <a:xfrm>
            <a:off x="-1523267" y="1965281"/>
            <a:ext cx="1515979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Platzhalterbild ersetzen:</a:t>
            </a:r>
            <a:br>
              <a:rPr b="1"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löschen und durch neues Bild ersetzen &gt; über Bildformat &gt; Zuschneiden im Rahmen ggf. nachpositionieren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Copyrightangabe: 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Korrektes Copyright angeben (in der Regel Name des*der Fotograf*in), Textfarbe je nach Hintergrund weiß oder schwarz</a:t>
            </a:r>
            <a:endParaRPr sz="1100"/>
          </a:p>
        </p:txBody>
      </p:sp>
      <p:sp>
        <p:nvSpPr>
          <p:cNvPr id="57" name="Google Shape;57;p14"/>
          <p:cNvSpPr txBox="1"/>
          <p:nvPr/>
        </p:nvSpPr>
        <p:spPr>
          <a:xfrm>
            <a:off x="7427" y="-235075"/>
            <a:ext cx="127775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V1: Titelfolie mit Bild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el - Text ">
  <p:cSld name="2_Titel - Text 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/>
        </p:nvSpPr>
        <p:spPr>
          <a:xfrm>
            <a:off x="7427" y="-235075"/>
            <a:ext cx="127775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V2: Titelfolie ohne Bild</a:t>
            </a:r>
            <a:endParaRPr sz="1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Inhalt - Text und Stichpunkte">
  <p:cSld name="3_Inhalt - Text und Stichpunkt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13100" y="2381400"/>
            <a:ext cx="7291388" cy="15930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noAutofit/>
          </a:bodyPr>
          <a:lstStyle>
            <a:lvl1pPr indent="-3175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13100" y="1028700"/>
            <a:ext cx="7291388" cy="1144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3" type="body"/>
          </p:nvPr>
        </p:nvSpPr>
        <p:spPr>
          <a:xfrm>
            <a:off x="416900" y="297409"/>
            <a:ext cx="6233931" cy="5380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Inhalt - Bild und Text">
  <p:cSld name="4_Inhalt - Bild und 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4889700" y="1036800"/>
            <a:ext cx="2987209" cy="3070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8"/>
          <p:cNvSpPr/>
          <p:nvPr>
            <p:ph idx="2" type="pic"/>
          </p:nvPr>
        </p:nvSpPr>
        <p:spPr>
          <a:xfrm>
            <a:off x="413146" y="1036054"/>
            <a:ext cx="4158854" cy="3070192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74" name="Google Shape;74;p18"/>
          <p:cNvSpPr txBox="1"/>
          <p:nvPr>
            <p:ph idx="3" type="body"/>
          </p:nvPr>
        </p:nvSpPr>
        <p:spPr>
          <a:xfrm>
            <a:off x="416900" y="297409"/>
            <a:ext cx="6233931" cy="5380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Inhalt - Bild und Stichpunkte">
  <p:cSld name="5_Inhalt - Bild und Stichpunkt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4889700" y="1023299"/>
            <a:ext cx="2986200" cy="30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33333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9"/>
          <p:cNvSpPr/>
          <p:nvPr>
            <p:ph idx="2" type="pic"/>
          </p:nvPr>
        </p:nvSpPr>
        <p:spPr>
          <a:xfrm>
            <a:off x="413146" y="1036054"/>
            <a:ext cx="4158854" cy="3070192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sp>
      <p:sp>
        <p:nvSpPr>
          <p:cNvPr id="78" name="Google Shape;78;p19"/>
          <p:cNvSpPr txBox="1"/>
          <p:nvPr>
            <p:ph idx="3" type="body"/>
          </p:nvPr>
        </p:nvSpPr>
        <p:spPr>
          <a:xfrm>
            <a:off x="416900" y="297409"/>
            <a:ext cx="6233931" cy="5380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40D1E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C40D1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1251347"/>
            <a:ext cx="9144000" cy="3892153"/>
          </a:xfrm>
          <a:custGeom>
            <a:rect b="b" l="l" r="r" t="t"/>
            <a:pathLst>
              <a:path extrusionOk="0" h="5189537" w="12192000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041126" y="284056"/>
            <a:ext cx="1687500" cy="5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/>
        </p:nvSpPr>
        <p:spPr>
          <a:xfrm>
            <a:off x="9219566" y="4150921"/>
            <a:ext cx="2326812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Titelseiten – Platzhalter für Sublogo ändern: </a:t>
            </a: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Direkt auf dieser Folie &gt; Bild anklicken &gt; Rechtsklick &gt; Bild einfügen</a:t>
            </a:r>
            <a:b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60">
          <p15:clr>
            <a:srgbClr val="F26B43"/>
          </p15:clr>
        </p15:guide>
        <p15:guide id="2" pos="5500">
          <p15:clr>
            <a:srgbClr val="F26B43"/>
          </p15:clr>
        </p15:guide>
        <p15:guide id="3" orient="horz" pos="259">
          <p15:clr>
            <a:srgbClr val="F26B43"/>
          </p15:clr>
        </p15:guide>
        <p15:guide id="4" pos="924">
          <p15:clr>
            <a:srgbClr val="F26B43"/>
          </p15:clr>
        </p15:guide>
        <p15:guide id="5" orient="horz" pos="2981">
          <p15:clr>
            <a:srgbClr val="F26B43"/>
          </p15:clr>
        </p15:guide>
        <p15:guide id="6" orient="horz" pos="497">
          <p15:clr>
            <a:srgbClr val="F26B43"/>
          </p15:clr>
        </p15:guide>
        <p15:guide id="7" orient="horz" pos="752">
          <p15:clr>
            <a:srgbClr val="F26B43"/>
          </p15:clr>
        </p15:guide>
        <p15:guide id="8" orient="horz" pos="991">
          <p15:clr>
            <a:srgbClr val="F26B43"/>
          </p15:clr>
        </p15:guide>
        <p15:guide id="9" orient="horz" pos="1246">
          <p15:clr>
            <a:srgbClr val="F26B43"/>
          </p15:clr>
        </p15:guide>
        <p15:guide id="10" orient="horz" pos="1501">
          <p15:clr>
            <a:srgbClr val="F26B43"/>
          </p15:clr>
        </p15:guide>
        <p15:guide id="11" orient="horz" pos="2504">
          <p15:clr>
            <a:srgbClr val="F26B43"/>
          </p15:clr>
        </p15:guide>
        <p15:guide id="12" orient="horz" pos="1739">
          <p15:clr>
            <a:srgbClr val="F26B43"/>
          </p15:clr>
        </p15:guide>
        <p15:guide id="13" orient="horz" pos="2249">
          <p15:clr>
            <a:srgbClr val="F26B43"/>
          </p15:clr>
        </p15:guide>
        <p15:guide id="14" orient="horz" pos="2743">
          <p15:clr>
            <a:srgbClr val="F26B43"/>
          </p15:clr>
        </p15:guide>
        <p15:guide id="15" orient="horz" pos="1994">
          <p15:clr>
            <a:srgbClr val="F26B43"/>
          </p15:clr>
        </p15:guide>
        <p15:guide id="16" pos="1571">
          <p15:clr>
            <a:srgbClr val="F26B43"/>
          </p15:clr>
        </p15:guide>
        <p15:guide id="17" pos="2233">
          <p15:clr>
            <a:srgbClr val="F26B43"/>
          </p15:clr>
        </p15:guide>
        <p15:guide id="18" pos="2880">
          <p15:clr>
            <a:srgbClr val="F26B43"/>
          </p15:clr>
        </p15:guide>
        <p15:guide id="19" pos="3544">
          <p15:clr>
            <a:srgbClr val="F26B43"/>
          </p15:clr>
        </p15:guide>
        <p15:guide id="20" pos="4189">
          <p15:clr>
            <a:srgbClr val="F26B43"/>
          </p15:clr>
        </p15:guide>
        <p15:guide id="21" pos="485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0" y="4311093"/>
            <a:ext cx="9146381" cy="832406"/>
          </a:xfrm>
          <a:custGeom>
            <a:rect b="b" l="l" r="r" t="t"/>
            <a:pathLst>
              <a:path extrusionOk="0" h="1109875" w="121951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960949" y="283500"/>
            <a:ext cx="753300" cy="5745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/>
        </p:nvSpPr>
        <p:spPr>
          <a:xfrm>
            <a:off x="9219566" y="4209743"/>
            <a:ext cx="2326812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Folgeseiten – Platzhalter für Sublogo ändern: </a:t>
            </a: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 &gt; Bild anklicken &gt; Rechtsklick &gt; Bild einfügen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 Rahmen anpassen</a:t>
            </a: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Bild anklicken &gt; Bildformat &gt; Zuschneiden &gt; 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 Dropdown „Einpassen“ wählen &gt; 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ggf. Bild nochmals neu positionieren </a:t>
            </a:r>
            <a:endParaRPr sz="1100"/>
          </a:p>
        </p:txBody>
      </p:sp>
      <p:sp>
        <p:nvSpPr>
          <p:cNvPr id="64" name="Google Shape;64;p16"/>
          <p:cNvSpPr txBox="1"/>
          <p:nvPr/>
        </p:nvSpPr>
        <p:spPr>
          <a:xfrm>
            <a:off x="-1682940" y="4856067"/>
            <a:ext cx="1667508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Informationen in Fußzeile ändern:</a:t>
            </a:r>
            <a:b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Folienmaster &gt; Nr. 2 bearbeiten</a:t>
            </a:r>
            <a:endParaRPr sz="1100"/>
          </a:p>
        </p:txBody>
      </p:sp>
      <p:sp>
        <p:nvSpPr>
          <p:cNvPr id="65" name="Google Shape;65;p16"/>
          <p:cNvSpPr txBox="1"/>
          <p:nvPr/>
        </p:nvSpPr>
        <p:spPr>
          <a:xfrm>
            <a:off x="413100" y="4799943"/>
            <a:ext cx="806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s" sz="900">
                <a:solidFill>
                  <a:schemeClr val="lt1"/>
                </a:solidFill>
              </a:rPr>
              <a:t>Page </a:t>
            </a:r>
            <a:fld id="{00000000-1234-1234-1234-123412341234}" type="slidenum">
              <a:rPr lang="e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1219200" y="4799950"/>
            <a:ext cx="744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3NglxqI3_13tGp58zvBCQa_5uB4q1yzX/view" TargetMode="External"/><Relationship Id="rId4" Type="http://schemas.openxmlformats.org/officeDocument/2006/relationships/image" Target="../media/image4.jpg"/><Relationship Id="rId5" Type="http://schemas.openxmlformats.org/officeDocument/2006/relationships/hyperlink" Target="https://drive.google.com/file/d/13NglxqI3_13tGp58zvBCQa_5uB4q1yzX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/>
        </p:nvSpPr>
        <p:spPr>
          <a:xfrm>
            <a:off x="304800" y="304800"/>
            <a:ext cx="5616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C40D1E"/>
                </a:solidFill>
              </a:rPr>
              <a:t>Seminar „Virtual Acoustic Reality“ (WiSe 25/26)</a:t>
            </a:r>
            <a:endParaRPr sz="1700">
              <a:solidFill>
                <a:srgbClr val="C40D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C40D1E"/>
              </a:solidFill>
            </a:endParaRPr>
          </a:p>
        </p:txBody>
      </p:sp>
      <p:sp>
        <p:nvSpPr>
          <p:cNvPr id="84" name="Google Shape;84;p20"/>
          <p:cNvSpPr txBox="1"/>
          <p:nvPr/>
        </p:nvSpPr>
        <p:spPr>
          <a:xfrm>
            <a:off x="42500" y="3700500"/>
            <a:ext cx="57873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Owen Ackerman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Ez Nasser-Eddin, 510441, Faculty I, AKT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Rodrigo Loyola, 501611, Faculty I, AKT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Khalif Shirad, 379390, Faculty I, AKT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85" name="Google Shape;85;p20"/>
          <p:cNvSpPr txBox="1"/>
          <p:nvPr/>
        </p:nvSpPr>
        <p:spPr>
          <a:xfrm>
            <a:off x="1627050" y="2148713"/>
            <a:ext cx="588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chemeClr val="lt1"/>
                </a:solidFill>
              </a:rPr>
              <a:t>Acoustic Sandbox</a:t>
            </a:r>
            <a:endParaRPr b="1" sz="2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lt1"/>
                </a:solidFill>
              </a:rPr>
              <a:t>A Virtual Reality Environment for Spatial Sound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413100" y="1302125"/>
            <a:ext cx="8007900" cy="2672400"/>
          </a:xfrm>
          <a:prstGeom prst="rect">
            <a:avLst/>
          </a:prstGeom>
        </p:spPr>
        <p:txBody>
          <a:bodyPr anchorCtr="0" anchor="t" bIns="34275" lIns="0" spcFirstLastPara="1" rIns="68575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chemeClr val="dk1"/>
                </a:solidFill>
              </a:rPr>
              <a:t>Existing game-engine audio pipelines are technically demanding for non-programmers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chemeClr val="dk1"/>
                </a:solidFill>
              </a:rPr>
              <a:t>Spatial audio workflows often require expensive hardware or static offline previews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s" sz="1800">
                <a:solidFill>
                  <a:schemeClr val="dk1"/>
                </a:solidFill>
              </a:rPr>
              <a:t>Our goal: make an Unreal Engine 5 App where users can have accessible interactive spatial audio in mixed reality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Context and Goal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idx="2" type="body"/>
          </p:nvPr>
        </p:nvSpPr>
        <p:spPr>
          <a:xfrm>
            <a:off x="413100" y="1028700"/>
            <a:ext cx="2593800" cy="26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b="1" lang="es" sz="1500"/>
              <a:t>Quest 2: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/>
              <a:t>Create room outline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/>
              <a:t>Highlight objects and </a:t>
            </a:r>
            <a:r>
              <a:rPr lang="es" sz="1600"/>
              <a:t>label</a:t>
            </a:r>
            <a:r>
              <a:rPr lang="es" sz="1600"/>
              <a:t> them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/>
              <a:t>Creates room mesh </a:t>
            </a:r>
            <a:endParaRPr sz="1600"/>
          </a:p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" sz="1500">
                <a:solidFill>
                  <a:schemeClr val="dk1"/>
                </a:solidFill>
              </a:rPr>
              <a:t>Quest 3: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Automatic (high resolution) scan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Headset Room Scan</a:t>
            </a:r>
            <a:endParaRPr sz="2200">
              <a:solidFill>
                <a:srgbClr val="C40D1E"/>
              </a:solidFill>
            </a:endParaRPr>
          </a:p>
        </p:txBody>
      </p:sp>
      <p:pic>
        <p:nvPicPr>
          <p:cNvPr descr="Meta's new Quest 3 room scanning update is pure magic | Android Central" id="98" name="Google Shape;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6400" y="1033463"/>
            <a:ext cx="5468304" cy="307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413100" y="1190425"/>
            <a:ext cx="4449900" cy="2802600"/>
          </a:xfrm>
          <a:prstGeom prst="rect">
            <a:avLst/>
          </a:prstGeom>
        </p:spPr>
        <p:txBody>
          <a:bodyPr anchorCtr="0" anchor="t" bIns="34275" lIns="0" spcFirstLastPara="1" rIns="68575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Blueprint or VSCode (C++)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Blueprint:</a:t>
            </a:r>
            <a:r>
              <a:rPr lang="es" sz="1600"/>
              <a:t> Utilizing Meta Quest's Mixed Reality Utility Kit (MRUK) to fetch </a:t>
            </a:r>
            <a:r>
              <a:rPr lang="es" sz="1600"/>
              <a:t>scanned</a:t>
            </a:r>
            <a:r>
              <a:rPr lang="es" sz="1600"/>
              <a:t> anchors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Acoustic Integration C++:</a:t>
            </a:r>
            <a:r>
              <a:rPr lang="es" sz="1600"/>
              <a:t> Attaching dynamic </a:t>
            </a:r>
            <a:r>
              <a:rPr i="1" lang="es" sz="1600"/>
              <a:t>Audio</a:t>
            </a:r>
            <a:r>
              <a:rPr i="1" lang="es" sz="1600"/>
              <a:t> Geometry Components</a:t>
            </a:r>
            <a:r>
              <a:rPr lang="es" sz="1600"/>
              <a:t> to spawned meshes on BeginPlay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Acoustic Integration Blueprint:</a:t>
            </a:r>
            <a:r>
              <a:rPr lang="es" sz="1600"/>
              <a:t> Bake Ray tracing live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7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System Architecture</a:t>
            </a:r>
            <a:endParaRPr sz="2200"/>
          </a:p>
        </p:txBody>
      </p:sp>
      <p:sp>
        <p:nvSpPr>
          <p:cNvPr id="105" name="Google Shape;105;p23"/>
          <p:cNvSpPr txBox="1"/>
          <p:nvPr/>
        </p:nvSpPr>
        <p:spPr>
          <a:xfrm>
            <a:off x="5257825" y="1190425"/>
            <a:ext cx="35307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Meta Quest Scan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     ↓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Anchors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     ↓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Runtime Mesh Generation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     ↓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Audio Geometry Components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     ↓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Ray Tracing + HRTF Spatialization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     ↓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User Binaural Audio Experience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2" type="body"/>
          </p:nvPr>
        </p:nvSpPr>
        <p:spPr>
          <a:xfrm>
            <a:off x="413100" y="1028700"/>
            <a:ext cx="3928200" cy="26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Add geometry to the scene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Pre bake the geometry for Ray Tracing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Real time RT spatialization for sounds based on the simplified baked acoustics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4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Acoustic Ray Tracing</a:t>
            </a:r>
            <a:endParaRPr sz="2200">
              <a:solidFill>
                <a:srgbClr val="C40D1E"/>
              </a:solidFill>
            </a:endParaRPr>
          </a:p>
        </p:txBody>
      </p:sp>
      <p:pic>
        <p:nvPicPr>
          <p:cNvPr id="112" name="Google Shape;112;p24" title="Screenshot 2026-05-27 0818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149" y="2395825"/>
            <a:ext cx="2416125" cy="18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4" title="Screenshot 2026-05-27 0817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23537"/>
            <a:ext cx="4515949" cy="329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2" type="body"/>
          </p:nvPr>
        </p:nvSpPr>
        <p:spPr>
          <a:xfrm>
            <a:off x="416900" y="647300"/>
            <a:ext cx="8457900" cy="3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High barrier of entry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Lack of information for Unreal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Quest room scans were inaccessible for Unreal (Data Protection)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MetaXR Audio requires stable geometry and meshes before playing for ray tracing and baked acoustics 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</a:rPr>
              <a:t>C</a:t>
            </a:r>
            <a:r>
              <a:rPr lang="es" sz="1800">
                <a:solidFill>
                  <a:srgbClr val="000000"/>
                </a:solidFill>
              </a:rPr>
              <a:t>rashing when adding </a:t>
            </a:r>
            <a:r>
              <a:rPr i="1" lang="es" sz="1800">
                <a:solidFill>
                  <a:srgbClr val="0A1317"/>
                </a:solidFill>
                <a:highlight>
                  <a:srgbClr val="FFFFFF"/>
                </a:highlight>
              </a:rPr>
              <a:t>MetaXRAcousticGeometry</a:t>
            </a:r>
            <a:r>
              <a:rPr lang="es" sz="1800">
                <a:solidFill>
                  <a:srgbClr val="0A13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800">
                <a:solidFill>
                  <a:srgbClr val="000000"/>
                </a:solidFill>
              </a:rPr>
              <a:t>component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9" name="Google Shape;119;p25"/>
          <p:cNvSpPr txBox="1"/>
          <p:nvPr>
            <p:ph idx="3" type="body"/>
          </p:nvPr>
        </p:nvSpPr>
        <p:spPr>
          <a:xfrm>
            <a:off x="416900" y="1091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C40D1E"/>
                </a:solidFill>
              </a:rPr>
              <a:t>Complications</a:t>
            </a:r>
            <a:endParaRPr sz="2200">
              <a:solidFill>
                <a:srgbClr val="C40D1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idx="2" type="body"/>
          </p:nvPr>
        </p:nvSpPr>
        <p:spPr>
          <a:xfrm>
            <a:off x="416900" y="1058700"/>
            <a:ext cx="8394600" cy="30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Solution:</a:t>
            </a:r>
            <a:r>
              <a:rPr lang="es" sz="1600">
                <a:solidFill>
                  <a:srgbClr val="000000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Added a JSON-based fallback room; this makes testing in Unreal possible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Try to package and test in the Quest (can of worms)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Blueprint: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Load JSON room model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Spawn Anchor Actors with MRUKSubsystem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Attach MetaXR Audio Geometry Components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" sz="1600">
                <a:solidFill>
                  <a:srgbClr val="000000"/>
                </a:solidFill>
              </a:rPr>
              <a:t>Bake acoustics and Raytrace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Solutions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idx="1" type="body"/>
          </p:nvPr>
        </p:nvSpPr>
        <p:spPr>
          <a:xfrm>
            <a:off x="416900" y="1092725"/>
            <a:ext cx="7947600" cy="3053400"/>
          </a:xfrm>
          <a:prstGeom prst="rect">
            <a:avLst/>
          </a:prstGeom>
        </p:spPr>
        <p:txBody>
          <a:bodyPr anchorCtr="0" anchor="t" bIns="34275" lIns="0" spcFirstLastPara="1" rIns="68575" wrap="square" tIns="0">
            <a:no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Project not fully finished. 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Got the room meshing and live ray tracing working separately, but still needs more work to connect to Mixed Reality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-"/>
            </a:pPr>
            <a:r>
              <a:rPr lang="es" sz="1800"/>
              <a:t>Should have adapted after noticing the difficulty of working with Unreal Engine</a:t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1" name="Google Shape;131;p27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Project Evaluation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416900" y="1118550"/>
            <a:ext cx="7798800" cy="2906400"/>
          </a:xfrm>
          <a:prstGeom prst="rect">
            <a:avLst/>
          </a:prstGeom>
        </p:spPr>
        <p:txBody>
          <a:bodyPr anchorCtr="0" anchor="t" bIns="34275" lIns="0" spcFirstLastPara="1" rIns="68575" wrap="square" tIns="0">
            <a:no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−"/>
            </a:pPr>
            <a:r>
              <a:rPr lang="es" sz="1800"/>
              <a:t>Fix the Room Scan → Acoustic Ray Tracing pipeline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−"/>
            </a:pPr>
            <a:r>
              <a:rPr lang="es" sz="1600"/>
              <a:t>work through the software permi</a:t>
            </a:r>
            <a:r>
              <a:rPr lang="es" sz="1600"/>
              <a:t>ssions of grabbing the room scan and baking it as the acoustic mesh for ray tracing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s" sz="1800"/>
              <a:t>Create mixed reality experiences</a:t>
            </a:r>
            <a:endParaRPr sz="18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−"/>
            </a:pPr>
            <a:r>
              <a:rPr lang="es" sz="1600"/>
              <a:t>Mixed Reality music experiences, multiple sources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−"/>
            </a:pPr>
            <a:r>
              <a:rPr lang="es" sz="1600"/>
              <a:t>Mixed Reality studio (place full surround sound spatial audio setup in your room)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−"/>
            </a:pPr>
            <a:r>
              <a:rPr lang="es" sz="1600"/>
              <a:t>Mixed Reality experiences/games: throw a digital ball around the room</a:t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8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Future Work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3" type="body"/>
          </p:nvPr>
        </p:nvSpPr>
        <p:spPr>
          <a:xfrm>
            <a:off x="847950" y="1928125"/>
            <a:ext cx="74481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THANK YOU FOR YOUR ATTENTION!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idx="3" type="body"/>
          </p:nvPr>
        </p:nvSpPr>
        <p:spPr>
          <a:xfrm>
            <a:off x="416900" y="297409"/>
            <a:ext cx="6234000" cy="53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Audio Ray Tracing Demo</a:t>
            </a:r>
            <a:endParaRPr sz="2200"/>
          </a:p>
        </p:txBody>
      </p:sp>
      <p:pic>
        <p:nvPicPr>
          <p:cNvPr id="148" name="Google Shape;148;p30" title="UnrealRayTracing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6925" y="991475"/>
            <a:ext cx="6950152" cy="316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0"/>
          <p:cNvSpPr txBox="1"/>
          <p:nvPr/>
        </p:nvSpPr>
        <p:spPr>
          <a:xfrm>
            <a:off x="5546400" y="367300"/>
            <a:ext cx="2239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Link to the video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https://drive.google.com/file/d/13NglxqI3_13tGp58zvBCQa_5uB4q1yzX/view?usp=sharing</a:t>
            </a:r>
            <a:endParaRPr sz="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